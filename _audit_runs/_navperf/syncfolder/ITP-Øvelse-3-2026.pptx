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0"/>
  </p:notesMasterIdLst>
  <p:handoutMasterIdLst>
    <p:handoutMasterId r:id="rId31"/>
  </p:handoutMasterIdLst>
  <p:sldIdLst>
    <p:sldId id="256" r:id="rId5"/>
    <p:sldId id="277" r:id="rId6"/>
    <p:sldId id="295" r:id="rId7"/>
    <p:sldId id="296" r:id="rId8"/>
    <p:sldId id="327" r:id="rId9"/>
    <p:sldId id="266" r:id="rId10"/>
    <p:sldId id="278" r:id="rId11"/>
    <p:sldId id="315" r:id="rId12"/>
    <p:sldId id="316" r:id="rId13"/>
    <p:sldId id="300" r:id="rId14"/>
    <p:sldId id="301" r:id="rId15"/>
    <p:sldId id="302" r:id="rId16"/>
    <p:sldId id="276" r:id="rId17"/>
    <p:sldId id="324" r:id="rId18"/>
    <p:sldId id="306" r:id="rId19"/>
    <p:sldId id="289" r:id="rId20"/>
    <p:sldId id="308" r:id="rId21"/>
    <p:sldId id="328" r:id="rId22"/>
    <p:sldId id="312" r:id="rId23"/>
    <p:sldId id="325" r:id="rId24"/>
    <p:sldId id="320" r:id="rId25"/>
    <p:sldId id="321" r:id="rId26"/>
    <p:sldId id="326" r:id="rId27"/>
    <p:sldId id="317" r:id="rId28"/>
    <p:sldId id="314" r:id="rId29"/>
  </p:sldIdLst>
  <p:sldSz cx="12192000" cy="6858000"/>
  <p:notesSz cx="6858000" cy="9144000"/>
  <p:defaultTextStyle>
    <a:defPPr rtl="0"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Forfatter" initials="F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1136F-E7AC-8B26-870D-8F70D6D4046E}" v="612" dt="2026-03-10T16:21:16.298"/>
    <p1510:client id="{A084A9DE-B2DD-0E42-B21A-BF88DEC99256}" v="180" dt="2026-03-10T16:25:21.045"/>
    <p1510:client id="{A5AB6D11-B142-86BD-7EBB-0AD9B0D9A85A}" v="39" dt="2026-03-11T09:25:54.493"/>
    <p1510:client id="{B5F551B8-515D-ACFB-4F61-958B68A55474}" v="390" dt="2026-03-10T16:21:36.2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70492"/>
  </p:normalViewPr>
  <p:slideViewPr>
    <p:cSldViewPr snapToGrid="0">
      <p:cViewPr>
        <p:scale>
          <a:sx n="90" d="100"/>
          <a:sy n="90" d="100"/>
        </p:scale>
        <p:origin x="1456" y="-200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6306C86-AF6C-4066-8B84-A44B0887ECA1}" type="datetime1">
              <a:rPr lang="da-DK" smtClean="0"/>
              <a:t>11.03.2026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a-DK" noProof="0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51110-FDBB-4A05-BB06-0D34F8495651}" type="datetime1">
              <a:rPr lang="da-DK" smtClean="0"/>
              <a:pPr/>
              <a:t>11.03.2026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a-DK" noProof="0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a-DK" noProof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398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020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AF53-FA2D-8E9D-64FE-29DBA6B22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26D9FDE1-70AB-07E5-E716-2249B0B2C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7C03E31-B387-8A56-39E4-2B8F50D56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4DA5548-8370-67EC-5729-010F19B70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1901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2A269-6B6E-C5DB-C925-A14BAFF3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2089C78-3D2B-B786-F5D8-1A72A53EE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9823E392-1346-5699-29E1-4D06E1DA7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2C4053E-D463-8857-5057-0F3DD5EC9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178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2841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56642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A6FF-0F46-0805-52D4-3D4BB6C63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1E70314-57CD-7C1D-74BD-3EF25CCC2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303D2A0-3E6C-3421-323C-5B314A578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C30B12F-DBF5-E5EC-D427-54D55D255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08319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5377-CE0C-0896-3FBA-9C719CD7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A78761D-BFD8-A901-7585-3C08E49D6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D450690-8802-51D0-6CE9-3F330C018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236F37B-AF12-A306-7174-89E7F8F75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4734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ED4E-901E-6983-33BA-1B022810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0A669CB-58EF-78EA-6355-C3EB74CBF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A859F93-9622-221A-4BCB-8FAD5210D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Her er en </a:t>
            </a:r>
            <a:r>
              <a:rPr lang="da-DK" b="1" dirty="0"/>
              <a:t>kort og overskuelig forklaring i bullets</a:t>
            </a:r>
            <a:r>
              <a:rPr lang="da-DK" dirty="0"/>
              <a:t> på </a:t>
            </a:r>
            <a:r>
              <a:rPr lang="da-DK" b="1" dirty="0"/>
              <a:t>pokerplanlægning (Planning Poker) i </a:t>
            </a:r>
            <a:r>
              <a:rPr lang="da-DK" b="1" dirty="0" err="1"/>
              <a:t>Scrum</a:t>
            </a:r>
            <a:r>
              <a:rPr lang="da-DK" dirty="0"/>
              <a:t> </a:t>
            </a:r>
            <a:endParaRPr lang="en-US" dirty="0"/>
          </a:p>
          <a:p>
            <a:pPr marL="171450" indent="-171450">
              <a:buFont typeface="Arial"/>
              <a:buChar char="•"/>
            </a:pPr>
            <a:r>
              <a:rPr lang="da-DK" b="1" dirty="0"/>
              <a:t>Formål:</a:t>
            </a:r>
            <a:r>
              <a:rPr lang="da-DK" dirty="0"/>
              <a:t> Estimere hvor stor en opgave (user story) er i forhold til kompleksitet og arbejde.</a:t>
            </a:r>
          </a:p>
          <a:p>
            <a:pPr marL="171450" indent="-171450">
              <a:buFont typeface="Arial"/>
              <a:buChar char="•"/>
            </a:pPr>
            <a:r>
              <a:rPr lang="da-DK" b="1" dirty="0"/>
              <a:t>Deltagere:</a:t>
            </a:r>
            <a:r>
              <a:rPr lang="da-DK" dirty="0"/>
              <a:t> Hele udviklingsteamet deltager (Product Owner kan forklare opgaven).</a:t>
            </a:r>
          </a:p>
          <a:p>
            <a:pPr marL="171450" indent="-171450">
              <a:buFont typeface="Arial"/>
              <a:buChar char="•"/>
            </a:pPr>
            <a:r>
              <a:rPr lang="da-DK" b="1" dirty="0"/>
              <a:t>Metode:</a:t>
            </a:r>
            <a:endParaRPr lang="da-DK" dirty="0"/>
          </a:p>
          <a:p>
            <a:pPr marL="628650" lvl="1" indent="-171450">
              <a:buFont typeface="Arial"/>
              <a:buChar char="•"/>
            </a:pPr>
            <a:r>
              <a:rPr lang="da-DK" dirty="0"/>
              <a:t>Alle får et sæt kort med tal (ofte </a:t>
            </a:r>
            <a:r>
              <a:rPr lang="da-DK" dirty="0" err="1"/>
              <a:t>Fibonacci</a:t>
            </a:r>
            <a:r>
              <a:rPr lang="da-DK" dirty="0"/>
              <a:t>: 1, 2, 3, 5, 8, 13, 21…).</a:t>
            </a:r>
          </a:p>
          <a:p>
            <a:pPr marL="628650" lvl="1" indent="-171450">
              <a:buFont typeface="Arial"/>
              <a:buChar char="•"/>
            </a:pPr>
            <a:r>
              <a:rPr lang="da-DK" dirty="0"/>
              <a:t>Teamet diskuterer kort user storyen.</a:t>
            </a:r>
          </a:p>
          <a:p>
            <a:pPr marL="628650" lvl="1" indent="-171450">
              <a:buFont typeface="Arial"/>
              <a:buChar char="•"/>
            </a:pPr>
            <a:r>
              <a:rPr lang="da-DK" dirty="0"/>
              <a:t>Alle vælger </a:t>
            </a:r>
            <a:r>
              <a:rPr lang="da-DK" b="1" dirty="0"/>
              <a:t>hemmeligt et kort</a:t>
            </a:r>
            <a:r>
              <a:rPr lang="da-DK" dirty="0"/>
              <a:t> der repræsenterer deres estimat.</a:t>
            </a:r>
          </a:p>
          <a:p>
            <a:pPr marL="628650" lvl="1" indent="-171450">
              <a:buFont typeface="Arial"/>
              <a:buChar char="•"/>
            </a:pPr>
            <a:r>
              <a:rPr lang="da-DK" dirty="0"/>
              <a:t>Kortene vendes </a:t>
            </a:r>
            <a:r>
              <a:rPr lang="da-DK" b="1" dirty="0"/>
              <a:t>samtidigt</a:t>
            </a:r>
            <a:r>
              <a:rPr lang="da-DK" dirty="0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da-DK" b="1" dirty="0"/>
              <a:t>Hvis estimater er forskellige:</a:t>
            </a:r>
            <a:endParaRPr lang="da-DK" dirty="0"/>
          </a:p>
          <a:p>
            <a:pPr marL="628650" lvl="1" indent="-171450">
              <a:buFont typeface="Arial"/>
              <a:buChar char="•"/>
            </a:pPr>
            <a:r>
              <a:rPr lang="da-DK" dirty="0"/>
              <a:t>De højeste og laveste forklarer deres vurdering.</a:t>
            </a:r>
          </a:p>
          <a:p>
            <a:pPr marL="628650" lvl="1" indent="-171450">
              <a:buFont typeface="Arial"/>
              <a:buChar char="•"/>
            </a:pPr>
            <a:r>
              <a:rPr lang="da-DK" dirty="0"/>
              <a:t>Teamet diskuterer kort.</a:t>
            </a:r>
          </a:p>
          <a:p>
            <a:pPr marL="628650" lvl="1" indent="-171450">
              <a:buFont typeface="Arial"/>
              <a:buChar char="•"/>
            </a:pPr>
            <a:r>
              <a:rPr lang="da-DK" dirty="0"/>
              <a:t>Der stemmes igen.</a:t>
            </a:r>
          </a:p>
          <a:p>
            <a:pPr marL="171450" indent="-171450">
              <a:buFont typeface="Arial"/>
              <a:buChar char="•"/>
            </a:pPr>
            <a:r>
              <a:rPr lang="da-DK" b="1" dirty="0"/>
              <a:t>Resultat:</a:t>
            </a:r>
            <a:endParaRPr lang="da-DK" dirty="0"/>
          </a:p>
          <a:p>
            <a:pPr marL="628650" lvl="1" indent="-171450">
              <a:buFont typeface="Arial"/>
              <a:buChar char="•"/>
            </a:pPr>
            <a:r>
              <a:rPr lang="da-DK" dirty="0"/>
              <a:t>Teamet bliver enige om </a:t>
            </a:r>
            <a:r>
              <a:rPr lang="da-DK" b="1" dirty="0"/>
              <a:t>story points</a:t>
            </a:r>
            <a:r>
              <a:rPr lang="da-DK" dirty="0"/>
              <a:t> for opgaven.</a:t>
            </a:r>
          </a:p>
          <a:p>
            <a:pPr marL="171450" indent="-171450">
              <a:buFont typeface="Arial"/>
              <a:buChar char="•"/>
            </a:pPr>
            <a:r>
              <a:rPr lang="da-DK" b="1" dirty="0"/>
              <a:t>Fordele:</a:t>
            </a:r>
            <a:endParaRPr lang="da-DK" dirty="0"/>
          </a:p>
          <a:p>
            <a:pPr marL="628650" lvl="1" indent="-171450">
              <a:buFont typeface="Arial"/>
              <a:buChar char="•"/>
            </a:pPr>
            <a:r>
              <a:rPr lang="da-DK" dirty="0"/>
              <a:t>Undgår at én person dominerer estimatet.</a:t>
            </a:r>
          </a:p>
          <a:p>
            <a:pPr marL="628650" lvl="1" indent="-171450">
              <a:buFont typeface="Arial"/>
              <a:buChar char="•"/>
            </a:pPr>
            <a:r>
              <a:rPr lang="da-DK" dirty="0"/>
              <a:t>Udnytter hele teamets viden.</a:t>
            </a:r>
          </a:p>
          <a:p>
            <a:pPr marL="628650" lvl="1" indent="-171450">
              <a:buFont typeface="Arial"/>
              <a:buChar char="•"/>
            </a:pPr>
            <a:r>
              <a:rPr lang="da-DK" dirty="0"/>
              <a:t>Skaber fælles forståelse af opgaven.</a:t>
            </a:r>
          </a:p>
          <a:p>
            <a:endParaRPr lang="da-DK" dirty="0">
              <a:ea typeface="Calibri"/>
              <a:cs typeface="Calibri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27409D0-1202-D8A0-1355-60BF0FF1B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9243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A388-9F0D-7A43-9B26-35DD4E3D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77948AA-D9AB-054D-0E18-4ED880E17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6FB6BF4-2DEB-5583-1F46-A22E0D4B7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D1098DA-7EDD-827C-EE36-48F0CCD72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442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FF16-FD48-7028-7D8C-88B6E920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E13F30D-2E0F-63A2-8BF7-0C60AADB2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709B73A-1142-EBD7-3AA6-F97A06869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C43E758-AE59-2E3D-715B-A2F1EF440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6003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94DB3-9F23-D8AF-35FF-E1ADF33C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0C8385A-C1A7-AA68-D5C8-465362915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4627FA6-B583-A6C4-4331-1FFFE47F1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C780703-4798-3B3B-66E1-9ACEEF401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8988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i="0" u="none" strike="noStrike">
                <a:solidFill>
                  <a:srgbClr val="000000"/>
                </a:solidFill>
                <a:effectLst/>
                <a:latin typeface="-webkit-standard"/>
              </a:rPr>
              <a:t>Afspil slideshowet for at se hvordan tallene beregnes løbende.</a:t>
            </a:r>
            <a:endParaRPr lang="da-DK" b="1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ACD7D-6B26-6A44-B638-2FCDBBF65707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54198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3DBD-DC26-AE1D-D3B4-3675D915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CE27EB7-8F2B-F52B-02AB-9CFAE64DD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1006684-EB53-87F4-021E-AA2DE8124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5CEA1EB-2D05-FDC1-5DED-2306BE7AA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3417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C8FF9-9EAF-05AD-9383-64928DC5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757C3CF9-CDCB-61D2-B687-57A95834B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16B946B-93F8-3888-5C29-CD8335251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185202B-B68E-5FBA-A8DC-CD1DAAFF5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2780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ED4E-901E-6983-33BA-1B022810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0A669CB-58EF-78EA-6355-C3EB74CBF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A859F93-9622-221A-4BCB-8FAD5210D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27409D0-1202-D8A0-1355-60BF0FF1B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9243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FA388-9F0D-7A43-9B26-35DD4E3D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77948AA-D9AB-054D-0E18-4ED880E17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6FB6BF4-2DEB-5583-1F46-A22E0D4B7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D1098DA-7EDD-827C-EE36-48F0CCD72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4442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66DA-ABED-B174-DFE2-616EE1D7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718981A6-942E-2AA0-993E-62B315574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B5BB398-0BD5-11C0-509D-C3914B42A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52F9F77-527B-FADF-1FE8-CE393A350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9101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a-DK" noProof="0"/>
              <a:t>Klik for at redigere undertiteltypografien i masteren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gsord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dsli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da-DK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TITLEN</a:t>
            </a:r>
          </a:p>
        </p:txBody>
      </p: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17" name="Pladsholder til tekst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18" name="Pladsholder til tekst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19" name="Pladsholder til tekst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34" name="Pladsholder til tekst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35" name="Pladsholder til tekst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36" name="Pladsholder til tekst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sp>
        <p:nvSpPr>
          <p:cNvPr id="37" name="Pladsholder til tekst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redigere mastertypografier for tekst</a:t>
            </a:r>
          </a:p>
        </p:txBody>
      </p:sp>
      <p:cxnSp>
        <p:nvCxnSpPr>
          <p:cNvPr id="3" name="Lige forbindelse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Lige forbindelse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onnen Indhold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5" name="Pladsholder til tekst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7" name="Pladsholder til tekst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31" name="Pladsholder til tekst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TILFØJE EN UNDERTITEL</a:t>
            </a:r>
          </a:p>
        </p:txBody>
      </p:sp>
      <p:sp>
        <p:nvSpPr>
          <p:cNvPr id="32" name="Pladsholder til tekst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33" name="Pladsholder til tekst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TILFØJE EN UNDERTITEL</a:t>
            </a:r>
          </a:p>
        </p:txBody>
      </p:sp>
      <p:sp>
        <p:nvSpPr>
          <p:cNvPr id="34" name="Pladsholder til tekst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2" name="Pladsholder til tekst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TILFØJE EN UNDERTITEL</a:t>
            </a:r>
          </a:p>
        </p:txBody>
      </p:sp>
      <p:sp>
        <p:nvSpPr>
          <p:cNvPr id="13" name="Pladsholder til tekst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da-DK" noProof="0"/>
              <a:t>20XX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  <p:cxnSp>
        <p:nvCxnSpPr>
          <p:cNvPr id="2" name="Lige forbindelse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onnen Indhol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5" name="Pladsholder til tekst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7" name="Pladsholder til tekst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8" name="Pladsholder til tekst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9" name="Pladsholder til tekst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23" name="Pladsholder til tekst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4" name="Pladsholder til tekst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k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dsholder til dato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10" name="Pladsholder til sidefod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11" name="Pladsholder til slidenumm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tionsski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ladsholder til tekst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2" name="Pladsholder til tekst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3" name="Pladsholder til tekst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5" name="Pladsholder til tekst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17" name="Pladsholder til dato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18" name="Pladsholder til sidefod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19" name="Pladsholder til slidenumm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ndho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 TEKST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REDIGERE TEKST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21" name="Pladsholder til tekst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 TEKST I MASTEREN</a:t>
            </a:r>
          </a:p>
        </p:txBody>
      </p:sp>
      <p:sp>
        <p:nvSpPr>
          <p:cNvPr id="22" name="Pladsholder til indhol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dssammenlig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23" name="Pladsholder til tekst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24" name="Pladsholder til tekst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teksttypografierne i masteren</a:t>
            </a:r>
          </a:p>
        </p:txBody>
      </p:sp>
      <p:sp>
        <p:nvSpPr>
          <p:cNvPr id="22" name="Pladsholder til indhol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teksttypografierne i masteren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Pladsholder til indhold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6" name="Pladsholder til indhold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endParaRPr lang="da-DK" noProof="0"/>
          </a:p>
        </p:txBody>
      </p:sp>
      <p:sp>
        <p:nvSpPr>
          <p:cNvPr id="27" name="Pladsholder til indhold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o indh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 TEKST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REDIGERE TEKST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el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20" name="Pladsholder til tekst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5" name="Pladsholder til tekst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26" name="Pladsholder til tekst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7" name="Pladsholder til tekst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28" name="Pladsholder til tekst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da-DK" noProof="0"/>
              <a:t>KLIK FOR AT TILFØJE EN UNDERTITEL</a:t>
            </a:r>
          </a:p>
        </p:txBody>
      </p:sp>
      <p:sp>
        <p:nvSpPr>
          <p:cNvPr id="29" name="Pladsholder til tekst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Klik for at tilføje tekst</a:t>
            </a:r>
          </a:p>
        </p:txBody>
      </p:sp>
      <p:sp>
        <p:nvSpPr>
          <p:cNvPr id="21" name="Pladsholder til dato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22" name="Pladsholder til sidefod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24" name="Pladsholder til slidenumm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dslinj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6" name="Pladsholder til tekst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År</a:t>
            </a:r>
          </a:p>
        </p:txBody>
      </p:sp>
      <p:sp>
        <p:nvSpPr>
          <p:cNvPr id="7" name="Pladsholder til tekst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8" name="Pladsholder til tekst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9" name="Pladsholder til tekst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0" name="Pladsholder til tekst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1" name="Pladsholder til tekst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År</a:t>
            </a:r>
          </a:p>
        </p:txBody>
      </p:sp>
      <p:sp>
        <p:nvSpPr>
          <p:cNvPr id="12" name="Pladsholder til tekst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3" name="Pladsholder til tekst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4" name="Pladsholder til tekst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5" name="Pladsholder til tekst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6" name="Pladsholder til tekst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7" name="Pladsholder til tekst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8" name="Pladsholder til tekst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19" name="Pladsholder til tekst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0" name="Pladsholder til tekst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1" name="Pladsholder til tekst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2" name="Pladsholder til tekst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3" name="Pladsholder til tekst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4" name="Pladsholder til tekst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5" name="Pladsholder til tekst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6" name="Pladsholder til tekst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7" name="Pladsholder til tekst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8" name="Pladsholder til tekst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29" name="Pladsholder til tekst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30" name="Pladsholder til tekst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31" name="Pladsholder til tekst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da-DK" noProof="0"/>
              <a:t>MM</a:t>
            </a:r>
          </a:p>
        </p:txBody>
      </p:sp>
      <p:sp>
        <p:nvSpPr>
          <p:cNvPr id="32" name="Rektangel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Pladsholder til dato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37" name="Pladsholder til sidefod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38" name="Pladsholder til slidenumm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SmartArt-grafik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slide 4 person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1" name="Pladsholder til billed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17" name="Pladsholder til billed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18" name="Pladsholder til billed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a-DK" noProof="0"/>
              <a:t>Klik på ikonet for at tilføje et billede</a:t>
            </a:r>
          </a:p>
        </p:txBody>
      </p:sp>
      <p:sp>
        <p:nvSpPr>
          <p:cNvPr id="19" name="Pladsholder til billed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3" name="Pladsholder til tekst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4" name="Pladsholder til tekst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5" name="Pladsholder til tekst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6" name="Pladsholder til tekst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7" name="Pladsholder til tekst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8" name="Pladsholder til tekst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9" name="Pladsholder til tekst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  <p:cxnSp>
        <p:nvCxnSpPr>
          <p:cNvPr id="10" name="Lige forbindelse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slide 8 person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1" name="Pladsholder til billede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17" name="Pladsholder til billede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18" name="Pladsholder til billede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a-DK" noProof="0"/>
              <a:t>Klik på ikonet for at tilføje et billede</a:t>
            </a:r>
          </a:p>
        </p:txBody>
      </p:sp>
      <p:sp>
        <p:nvSpPr>
          <p:cNvPr id="19" name="Pladsholder til billede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6" name="Pladsholder til tekst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3" name="Pladsholder til tekst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7" name="Pladsholder til tekst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4" name="Pladsholder til tekst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8" name="Pladsholder til tekst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5" name="Pladsholder til tekst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9" name="Pladsholder til tekst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55" name="Pladsholder til billede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56" name="Pladsholder til billede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57" name="Pladsholder til billede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da-DK" noProof="0"/>
              <a:t>Klik på ikonet for at tilføje et billede</a:t>
            </a:r>
          </a:p>
        </p:txBody>
      </p:sp>
      <p:sp>
        <p:nvSpPr>
          <p:cNvPr id="58" name="Pladsholder til billede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på ikonet for at tilføje et billede</a:t>
            </a:r>
          </a:p>
        </p:txBody>
      </p:sp>
      <p:sp>
        <p:nvSpPr>
          <p:cNvPr id="54" name="Pladsholder til tekst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2" name="Pladsholder til tekst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59" name="Pladsholder til tekst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3" name="Pladsholder til tekst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0" name="Pladsholder til tekst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4" name="Pladsholder til tekst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1" name="Pladsholder til tekst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65" name="Pladsholder til tekst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MASTERTYPOGRAFIEN FOR OVERSKRIFTEN</a:t>
            </a:r>
          </a:p>
        </p:txBody>
      </p:sp>
      <p:sp>
        <p:nvSpPr>
          <p:cNvPr id="11" name="Pladsholder til indhold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a-DK" noProof="0"/>
              <a:t>Klik for at tilføje indhold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17" name="Pladsholder til tekst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4" name="Pladsholder til indhold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a-DK" noProof="0"/>
              <a:t>Klik for at tilføje indhold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18" name="Pladsholder til tekst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REDIGERE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5" name="Pladsholder til indhold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a-DK" noProof="0"/>
              <a:t>Klik for at tilføje indhold</a:t>
            </a:r>
          </a:p>
        </p:txBody>
      </p:sp>
      <p:sp>
        <p:nvSpPr>
          <p:cNvPr id="21" name="Pladsholder til tekst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19" name="Pladsholder til tekst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sp>
        <p:nvSpPr>
          <p:cNvPr id="22" name="Pladsholder til indhold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6" name="Pladsholder til indhold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da-DK" noProof="0"/>
              <a:t>Klik for at tilføje indhold</a:t>
            </a:r>
          </a:p>
        </p:txBody>
      </p:sp>
      <p:sp>
        <p:nvSpPr>
          <p:cNvPr id="14" name="Pladsholder til tekst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#</a:t>
            </a:r>
          </a:p>
        </p:txBody>
      </p:sp>
      <p:sp>
        <p:nvSpPr>
          <p:cNvPr id="23" name="Pladsholder til tekst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a-DK" noProof="0"/>
              <a:t>KLIK FOR AT REDIGERE</a:t>
            </a:r>
          </a:p>
        </p:txBody>
      </p: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ladsholder til indhold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versig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ladsholder til dato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22" name="Pladsholder til sidefod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24" name="Pladsholder til slidenumm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ukk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a-DK" noProof="0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a-DK" noProof="0"/>
              <a:t>Klik for at redigere undertiteltypografien i masteren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Pladsholder til dato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10" name="Pladsholder til sidefod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11" name="Pladsholder til slidenumm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20XX</a:t>
            </a:r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Forretningspræsentation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tif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5372548" cy="1122202"/>
          </a:xfrm>
        </p:spPr>
        <p:txBody>
          <a:bodyPr rtlCol="0"/>
          <a:lstStyle/>
          <a:p>
            <a:pPr rtl="0"/>
            <a:r>
              <a:rPr lang="da-DK"/>
              <a:t>IT-projektledelse</a:t>
            </a:r>
            <a:br>
              <a:rPr lang="da-DK"/>
            </a:br>
            <a:r>
              <a:rPr lang="da-DK"/>
              <a:t>Exercise: 3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da-DK"/>
              <a:t>13-03-2026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2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9B96E727-215E-DE9B-0086-87BCAB2C9EE4}"/>
              </a:ext>
            </a:extLst>
          </p:cNvPr>
          <p:cNvSpPr txBox="1"/>
          <p:nvPr/>
        </p:nvSpPr>
        <p:spPr>
          <a:xfrm>
            <a:off x="620345" y="1443841"/>
            <a:ext cx="6283228" cy="43396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>
              <a:buFont typeface="Wingdings" pitchFamily="2" charset="2"/>
              <a:buChar char="q"/>
            </a:pPr>
            <a:endParaRPr lang="da-DK" sz="2400" b="1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/>
              <a:t>Opsamling fra sidst</a:t>
            </a:r>
            <a:endParaRPr lang="en-US" sz="2400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1: </a:t>
            </a:r>
            <a:r>
              <a:rPr lang="da-DK" sz="2400" b="1"/>
              <a:t>PERT estimater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2: Pokerplanlægning</a:t>
            </a:r>
            <a:endParaRPr lang="da-DK" sz="2400" b="1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3: </a:t>
            </a:r>
            <a:r>
              <a:rPr lang="da-DK" sz="2400" b="1"/>
              <a:t>Aktivitetsplan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4: </a:t>
            </a:r>
            <a:r>
              <a:rPr lang="da-DK" sz="2400" b="1"/>
              <a:t>Kvalitetssikring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Afrunding</a:t>
            </a:r>
          </a:p>
          <a:p>
            <a:endParaRPr lang="da-DK"/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50164-56F6-329F-A746-30D6FD099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DB4212-FAB3-B16A-BF5C-AD11304DD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668134"/>
            <a:ext cx="8421688" cy="1325563"/>
          </a:xfrm>
        </p:spPr>
        <p:txBody>
          <a:bodyPr rtlCol="0"/>
          <a:lstStyle/>
          <a:p>
            <a:r>
              <a:rPr lang="da-DK" b="1" u="sng"/>
              <a:t>Klynge vejledning – Key take aways</a:t>
            </a:r>
          </a:p>
        </p:txBody>
      </p:sp>
      <p:sp>
        <p:nvSpPr>
          <p:cNvPr id="82" name="Pladsholder til slidenummer 81">
            <a:extLst>
              <a:ext uri="{FF2B5EF4-FFF2-40B4-BE49-F238E27FC236}">
                <a16:creationId xmlns:a16="http://schemas.microsoft.com/office/drawing/2014/main" id="{F2B93757-5A83-F397-63EC-71B6DB8D8E6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3</a:t>
            </a:fld>
            <a:endParaRPr lang="da-DK"/>
          </a:p>
        </p:txBody>
      </p:sp>
      <p:sp>
        <p:nvSpPr>
          <p:cNvPr id="11" name="Pladsholder til tekst 4">
            <a:extLst>
              <a:ext uri="{FF2B5EF4-FFF2-40B4-BE49-F238E27FC236}">
                <a16:creationId xmlns:a16="http://schemas.microsoft.com/office/drawing/2014/main" id="{0FF02350-643B-F073-7759-F322FC27361B}"/>
              </a:ext>
            </a:extLst>
          </p:cNvPr>
          <p:cNvSpPr txBox="1">
            <a:spLocks/>
          </p:cNvSpPr>
          <p:nvPr/>
        </p:nvSpPr>
        <p:spPr>
          <a:xfrm>
            <a:off x="2156113" y="2301875"/>
            <a:ext cx="7885178" cy="24511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</a:pPr>
            <a:r>
              <a:rPr lang="da-DK"/>
              <a:t>Skarpe fremlæggelser</a:t>
            </a:r>
          </a:p>
          <a:p>
            <a:pPr marL="342900" indent="-342900">
              <a:buChar char="•"/>
            </a:pPr>
            <a:r>
              <a:rPr lang="da-DK"/>
              <a:t>Husk sammenhængen mellem figurerne</a:t>
            </a:r>
          </a:p>
          <a:p>
            <a:pPr marL="342900" indent="-342900">
              <a:buChar char="•"/>
            </a:pPr>
            <a:r>
              <a:rPr lang="da-DK"/>
              <a:t>SMART succes- og acceptkriterier</a:t>
            </a:r>
          </a:p>
          <a:p>
            <a:pPr marL="342900" indent="-342900">
              <a:buChar char="•"/>
            </a:pPr>
            <a:r>
              <a:rPr lang="da-DK"/>
              <a:t>Husk datoer i milepælsplanen</a:t>
            </a:r>
          </a:p>
          <a:p>
            <a:pPr marL="342900" indent="-342900">
              <a:buChar char="•"/>
            </a:pPr>
            <a:r>
              <a:rPr lang="da-DK"/>
              <a:t>Intressentanalysen - Gør det kontekstnært</a:t>
            </a:r>
          </a:p>
          <a:p>
            <a:pPr marL="342900" indent="-342900">
              <a:buChar char="•"/>
            </a:pPr>
            <a:endParaRPr lang="da-DK"/>
          </a:p>
          <a:p>
            <a:pPr marL="342900" indent="-342900">
              <a:buChar char="•"/>
            </a:pPr>
            <a:endParaRPr lang="da-DK"/>
          </a:p>
          <a:p>
            <a:pPr marL="342900" indent="-342900">
              <a:buChar char="•"/>
            </a:pPr>
            <a:endParaRPr lang="da-DK"/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408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EE34-ADC0-2A38-2153-3358673E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44589D7-DCD3-E19A-7B32-070B0718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4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D6F3020F-C5D9-D811-AE46-BAF9EC2F08E6}"/>
              </a:ext>
            </a:extLst>
          </p:cNvPr>
          <p:cNvSpPr txBox="1"/>
          <p:nvPr/>
        </p:nvSpPr>
        <p:spPr>
          <a:xfrm>
            <a:off x="620345" y="1443841"/>
            <a:ext cx="6283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1: </a:t>
            </a:r>
            <a:r>
              <a:rPr lang="da-DK" sz="2400" b="1"/>
              <a:t>PERT estimater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2: Pokerplanlægning</a:t>
            </a:r>
            <a:endParaRPr lang="da-DK" sz="2400" b="1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3: </a:t>
            </a:r>
            <a:r>
              <a:rPr lang="da-DK" sz="2400" b="1"/>
              <a:t>Aktivitetsplan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4: </a:t>
            </a:r>
            <a:r>
              <a:rPr lang="da-DK" sz="2400" b="1"/>
              <a:t>Kvalitetssikring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Afrunding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992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0BE8-9AE0-58F6-26AB-643F79E0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BD5BB-2D7E-5412-E5D3-8BA58EBB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217922"/>
            <a:ext cx="8421688" cy="1325563"/>
          </a:xfrm>
        </p:spPr>
        <p:txBody>
          <a:bodyPr/>
          <a:lstStyle/>
          <a:p>
            <a:r>
              <a:rPr lang="da-DK" b="1">
                <a:solidFill>
                  <a:schemeClr val="tx1"/>
                </a:solidFill>
                <a:latin typeface="Arial"/>
                <a:cs typeface="Arial"/>
              </a:rPr>
              <a:t>End-result</a:t>
            </a:r>
            <a:endParaRPr lang="en-US"/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06BDA0D-3B7E-8110-39F4-6828E8CB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5</a:t>
            </a:fld>
            <a:endParaRPr lang="da-DK" noProof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5018933-855F-A5FA-1FC0-49E61576C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4" y="1978550"/>
            <a:ext cx="11805956" cy="437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1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047" y="0"/>
            <a:ext cx="8421688" cy="1325563"/>
          </a:xfrm>
        </p:spPr>
        <p:txBody>
          <a:bodyPr rtlCol="0"/>
          <a:lstStyle/>
          <a:p>
            <a:r>
              <a:rPr lang="da-DK" b="1" u="sng"/>
              <a:t>PERT Estimater</a:t>
            </a: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6</a:t>
            </a:fld>
            <a:endParaRPr lang="da-DK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B8D39807-44DB-3D3E-64E4-23648479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9" y="944077"/>
            <a:ext cx="12192003" cy="59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40" y="337137"/>
            <a:ext cx="10515598" cy="846301"/>
          </a:xfrm>
        </p:spPr>
        <p:txBody>
          <a:bodyPr rtlCol="0">
            <a:normAutofit fontScale="90000"/>
          </a:bodyPr>
          <a:lstStyle/>
          <a:p>
            <a:r>
              <a:rPr lang="da-DK" sz="5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Estimater fra et andet projekt – 1 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7</a:t>
            </a:fld>
            <a:endParaRPr lang="da-DK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DD8BCD1-89C7-D52C-A351-B305C817E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45" y="1480178"/>
            <a:ext cx="4746553" cy="487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E4E0-0DF5-6BD8-7620-620370C92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FC4B6-5744-A417-BFD5-F96DCC75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540" y="337137"/>
            <a:ext cx="10515598" cy="846301"/>
          </a:xfrm>
        </p:spPr>
        <p:txBody>
          <a:bodyPr rtlCol="0">
            <a:normAutofit fontScale="90000"/>
          </a:bodyPr>
          <a:lstStyle/>
          <a:p>
            <a:r>
              <a:rPr lang="da-DK" sz="5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Estimater fra et andet projekt – 2 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0B70A7C-F7AE-4462-E1BA-17385B66483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8</a:t>
            </a:fld>
            <a:endParaRPr lang="da-DK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96147B8-588B-5353-D82E-8B48EA64F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544" y="1100382"/>
            <a:ext cx="4925112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12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58A77-56B3-D7EB-5838-ED952B221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AB5CFDB8-6502-43DE-3DAE-FE647E88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9</a:t>
            </a:fld>
            <a:endParaRPr lang="da-DK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165F9DC-A8A0-88E5-9F43-28EDF52F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40" y="584787"/>
            <a:ext cx="10515598" cy="846301"/>
          </a:xfrm>
        </p:spPr>
        <p:txBody>
          <a:bodyPr rtlCol="0">
            <a:normAutofit fontScale="90000"/>
          </a:bodyPr>
          <a:lstStyle/>
          <a:p>
            <a:r>
              <a:rPr lang="da-DK" sz="6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1: estimering (15 minutter)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B3BF5DFA-764B-E58C-6A78-84AA81408E79}"/>
              </a:ext>
            </a:extLst>
          </p:cNvPr>
          <p:cNvSpPr txBox="1"/>
          <p:nvPr/>
        </p:nvSpPr>
        <p:spPr>
          <a:xfrm>
            <a:off x="3048000" y="1845052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12" indent="-342912">
              <a:buAutoNum type="arabicPeriod"/>
            </a:pPr>
            <a:r>
              <a:rPr lang="da-DK"/>
              <a:t>Start med at identificere de aktiviteter der er i jeres projekt.</a:t>
            </a:r>
          </a:p>
          <a:p>
            <a:pPr marL="342912" indent="-342912">
              <a:buAutoNum type="arabicPeriod"/>
            </a:pPr>
            <a:r>
              <a:rPr lang="da-DK"/>
              <a:t>Opstil derefter tidsestimater a, m og b for jeres aktiviteter</a:t>
            </a:r>
          </a:p>
          <a:p>
            <a:pPr marL="342912" indent="-342912">
              <a:buAutoNum type="arabicPeriod"/>
            </a:pPr>
            <a:endParaRPr lang="da-DK"/>
          </a:p>
          <a:p>
            <a:r>
              <a:rPr lang="da-DK" sz="180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Pessimistisk = b</a:t>
            </a:r>
          </a:p>
          <a:p>
            <a:r>
              <a:rPr lang="da-DK" sz="180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Mest sandsynlige (median) = m</a:t>
            </a:r>
          </a:p>
          <a:p>
            <a:r>
              <a:rPr lang="da-DK" sz="180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Optimistisk = a</a:t>
            </a:r>
          </a:p>
          <a:p>
            <a:r>
              <a:rPr lang="da-DK" sz="1800" err="1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Expected</a:t>
            </a:r>
            <a:r>
              <a:rPr lang="da-DK" sz="180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 = Te</a:t>
            </a:r>
          </a:p>
          <a:p>
            <a:endParaRPr lang="da-DK"/>
          </a:p>
          <a:p>
            <a:pPr marL="342912" indent="-342912">
              <a:buAutoNum type="arabicPeriod"/>
            </a:pPr>
            <a:endParaRPr lang="da-DK"/>
          </a:p>
          <a:p>
            <a:pPr marL="342912" indent="-342912">
              <a:buAutoNum type="arabicPeriod"/>
            </a:pPr>
            <a:endParaRPr lang="da-DK"/>
          </a:p>
          <a:p>
            <a:endParaRPr lang="da-DK"/>
          </a:p>
          <a:p>
            <a:endParaRPr lang="da-DK"/>
          </a:p>
          <a:p>
            <a:endParaRPr lang="da-DK"/>
          </a:p>
          <a:p>
            <a:endParaRPr lang="da-DK"/>
          </a:p>
          <a:p>
            <a:endParaRPr lang="da-D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324A8EA8-CA64-74FC-9754-4652B52DC27D}"/>
                  </a:ext>
                </a:extLst>
              </p:cNvPr>
              <p:cNvSpPr/>
              <p:nvPr/>
            </p:nvSpPr>
            <p:spPr>
              <a:xfrm>
                <a:off x="3048000" y="4903517"/>
                <a:ext cx="1901161" cy="6182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da-DK"/>
              </a:p>
            </p:txBody>
          </p:sp>
        </mc:Choice>
        <mc:Fallback xmlns="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324A8EA8-CA64-74FC-9754-4652B52DC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903517"/>
                <a:ext cx="1901161" cy="6182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909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D82E-5F06-50CF-10C0-4073BAB6F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D99CF9B-8F64-2056-7BF2-ABA6C0CF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10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CB01A76B-C210-0B53-4A9B-FD4BF2A4F0BA}"/>
              </a:ext>
            </a:extLst>
          </p:cNvPr>
          <p:cNvSpPr txBox="1"/>
          <p:nvPr/>
        </p:nvSpPr>
        <p:spPr>
          <a:xfrm>
            <a:off x="620345" y="1443841"/>
            <a:ext cx="6283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1: </a:t>
            </a:r>
            <a:r>
              <a:rPr lang="da-DK" sz="2400" b="1"/>
              <a:t>PERT estimater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2: Pokerplanlægning</a:t>
            </a:r>
            <a:endParaRPr lang="da-DK" sz="2400" b="1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3: </a:t>
            </a:r>
            <a:r>
              <a:rPr lang="da-DK" sz="2400" b="1"/>
              <a:t>Aktivitetsplan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4: </a:t>
            </a:r>
            <a:r>
              <a:rPr lang="da-DK" sz="2400" b="1"/>
              <a:t>Kvalitetssikring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Afrunding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1348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145E-EEF2-62EA-ADC5-4D7CE229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1411B-1CDE-A216-E4CE-9AB3FC05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046" y="0"/>
            <a:ext cx="9056885" cy="1325563"/>
          </a:xfrm>
        </p:spPr>
        <p:txBody>
          <a:bodyPr rtlCol="0"/>
          <a:lstStyle/>
          <a:p>
            <a:r>
              <a:rPr lang="da-DK" sz="3200" b="1">
                <a:solidFill>
                  <a:schemeClr val="tx1"/>
                </a:solidFill>
                <a:latin typeface="Arial"/>
                <a:cs typeface="Arial"/>
              </a:rPr>
              <a:t>Pokerplanlægning</a:t>
            </a: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273859F-47AB-E86D-1135-CA9C3EB3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11</a:t>
            </a:fld>
            <a:endParaRPr lang="da-DK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F63A3B44-71D2-EED9-B740-D65D128A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65103"/>
            <a:ext cx="5319333" cy="3124700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FE54FF18-A37B-AD7E-F839-4A2697899CF4}"/>
              </a:ext>
            </a:extLst>
          </p:cNvPr>
          <p:cNvSpPr txBox="1"/>
          <p:nvPr/>
        </p:nvSpPr>
        <p:spPr>
          <a:xfrm>
            <a:off x="161925" y="1323091"/>
            <a:ext cx="6096000" cy="53553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Vælg 5 af de funktionelle krav fra jeres programmeringsopgave.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Bygger på ekspertviden og erfaringer fra </a:t>
            </a:r>
            <a:r>
              <a:rPr lang="da-DK" u="sng"/>
              <a:t>projekt teamet</a:t>
            </a:r>
            <a:endParaRPr lang="en-US"/>
          </a:p>
          <a:p>
            <a:pPr marL="285760" indent="-285760">
              <a:buFont typeface="Arial" panose="020B0604020202020204" pitchFamily="34" charset="0"/>
              <a:buChar char="•"/>
            </a:pPr>
            <a:endParaRPr lang="da-DK" u="sng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Estimere hvor stor en opgave (user story) er i forhold til kompleksitet og arbejde.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Hele udviklingsteamet deltager (Product </a:t>
            </a:r>
            <a:r>
              <a:rPr lang="da-DK" sz="1200" err="1">
                <a:latin typeface="Calibri"/>
                <a:ea typeface="Calibri"/>
                <a:cs typeface="Calibri"/>
              </a:rPr>
              <a:t>Owner</a:t>
            </a:r>
            <a:r>
              <a:rPr lang="da-DK" sz="1200">
                <a:latin typeface="Calibri"/>
                <a:ea typeface="Calibri"/>
                <a:cs typeface="Calibri"/>
              </a:rPr>
              <a:t> kan forklare opgaven).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1200">
              <a:latin typeface="Calibri"/>
              <a:ea typeface="Calibri"/>
              <a:cs typeface="Calibri"/>
            </a:endParaRPr>
          </a:p>
          <a:p>
            <a:pPr marL="171450" indent="-171450">
              <a:buFont typeface="Arial,Sans-Serif" panose="020B0604020202020204" pitchFamily="34" charset="0"/>
              <a:buChar char="•"/>
            </a:pPr>
            <a:r>
              <a:rPr lang="da-DK" sz="1200" b="1">
                <a:latin typeface="Calibri"/>
                <a:ea typeface="Calibri"/>
                <a:cs typeface="Calibri"/>
              </a:rPr>
              <a:t>Metode:</a:t>
            </a:r>
            <a:endParaRPr lang="da-DK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628650" lvl="1" indent="-171450">
              <a:buFont typeface="Arial,Sans-Serif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Brug et sæt papirlapper med tal (1, 2, 3, 5, 8, 13, 21).</a:t>
            </a:r>
            <a:endParaRPr lang="en-US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628650" lvl="1" indent="-171450">
              <a:buFont typeface="Arial,Sans-Serif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Teamet diskuterer kort user storyen.</a:t>
            </a:r>
            <a:endParaRPr lang="en-US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628650" lvl="1" indent="-171450">
              <a:buFont typeface="Arial,Sans-Serif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Alle vælger </a:t>
            </a:r>
            <a:r>
              <a:rPr lang="da-DK" sz="1200" b="1">
                <a:latin typeface="Calibri"/>
                <a:ea typeface="Calibri"/>
                <a:cs typeface="Calibri"/>
              </a:rPr>
              <a:t>hemmeligt et kort</a:t>
            </a:r>
            <a:r>
              <a:rPr lang="da-DK" sz="1200">
                <a:latin typeface="Calibri"/>
                <a:ea typeface="Calibri"/>
                <a:cs typeface="Calibri"/>
              </a:rPr>
              <a:t> der repræsenterer deres estimat.</a:t>
            </a:r>
            <a:endParaRPr lang="en-US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628650" lvl="1" indent="-171450">
              <a:buFont typeface="Arial,Sans-Serif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Kortene vendes </a:t>
            </a:r>
            <a:r>
              <a:rPr lang="da-DK" sz="1200" b="1">
                <a:latin typeface="Calibri"/>
                <a:ea typeface="Calibri"/>
                <a:cs typeface="Calibri"/>
              </a:rPr>
              <a:t>samtidigt</a:t>
            </a:r>
            <a:r>
              <a:rPr lang="da-DK" sz="1200">
                <a:latin typeface="Calibri"/>
                <a:ea typeface="Calibri"/>
                <a:cs typeface="Calibri"/>
              </a:rPr>
              <a:t>.</a:t>
            </a:r>
            <a:endParaRPr lang="en-US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,Sans-Serif" panose="020B0604020202020204" pitchFamily="34" charset="0"/>
              <a:buChar char="•"/>
            </a:pPr>
            <a:r>
              <a:rPr lang="da-DK" sz="1200" b="1">
                <a:latin typeface="Calibri"/>
                <a:ea typeface="Calibri"/>
                <a:cs typeface="Calibri"/>
              </a:rPr>
              <a:t>Hvis estimaterne er forskellige:</a:t>
            </a:r>
            <a:endParaRPr lang="da-DK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628650" lvl="1" indent="-171450">
              <a:buFont typeface="Arial,Sans-Serif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De højeste og laveste forklarer deres vurdering.</a:t>
            </a:r>
            <a:endParaRPr lang="en-US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628650" lvl="1" indent="-171450">
              <a:buFont typeface="Arial,Sans-Serif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Teamet diskuterer kort.</a:t>
            </a:r>
            <a:endParaRPr lang="en-US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628650" lvl="1" indent="-171450">
              <a:buFont typeface="Arial,Sans-Serif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Der stemmes igen.</a:t>
            </a:r>
            <a:endParaRPr lang="en-US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,Sans-Serif" panose="020B0604020202020204" pitchFamily="34" charset="0"/>
              <a:buChar char="•"/>
            </a:pPr>
            <a:r>
              <a:rPr lang="da-DK" sz="1200" b="1">
                <a:latin typeface="Calibri"/>
                <a:ea typeface="Calibri"/>
                <a:cs typeface="Calibri"/>
              </a:rPr>
              <a:t>Resultat:</a:t>
            </a:r>
            <a:endParaRPr lang="da-DK" sz="1200">
              <a:solidFill>
                <a:srgbClr val="444444"/>
              </a:solidFill>
              <a:latin typeface="Calibri"/>
              <a:ea typeface="Calibri"/>
              <a:cs typeface="Calibri"/>
            </a:endParaRPr>
          </a:p>
          <a:p>
            <a:pPr marL="628650" lvl="1" indent="-171450">
              <a:buFont typeface="Arial,Sans-Serif" panose="020B0604020202020204" pitchFamily="34" charset="0"/>
              <a:buChar char="•"/>
            </a:pPr>
            <a:r>
              <a:rPr lang="da-DK" sz="1200">
                <a:latin typeface="Calibri"/>
                <a:ea typeface="Calibri"/>
                <a:cs typeface="Calibri"/>
              </a:rPr>
              <a:t>Teamet bliver enige om </a:t>
            </a:r>
            <a:r>
              <a:rPr lang="da-DK" sz="1200" b="1">
                <a:latin typeface="Calibri"/>
                <a:ea typeface="Calibri"/>
                <a:cs typeface="Calibri"/>
              </a:rPr>
              <a:t>story points</a:t>
            </a:r>
            <a:r>
              <a:rPr lang="da-DK" sz="1200">
                <a:latin typeface="Calibri"/>
                <a:ea typeface="Calibri"/>
                <a:cs typeface="Calibri"/>
              </a:rPr>
              <a:t> for opgaven.</a:t>
            </a:r>
            <a:endParaRPr lang="da-DK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12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/>
              <a:t>Estimeringsenheden: Story points eller tidsenheder (Timer)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u="sng"/>
              <a:t>I skal bare arbejde i timer…</a:t>
            </a:r>
          </a:p>
          <a:p>
            <a:pPr marL="285760" indent="-285760">
              <a:buFont typeface="Arial" panose="020B0604020202020204" pitchFamily="34" charset="0"/>
              <a:buChar char="•"/>
            </a:pPr>
            <a:endParaRPr lang="da-DK"/>
          </a:p>
          <a:p>
            <a:pPr marL="285760" indent="-285760">
              <a:buFont typeface="Arial" panose="020B0604020202020204" pitchFamily="34" charset="0"/>
              <a:buChar char="•"/>
            </a:pP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497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D68CB-18F0-29F8-3179-62E47C3EF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4A6030-7126-8094-1E80-52F20E04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67845"/>
            <a:ext cx="11229975" cy="846301"/>
          </a:xfrm>
        </p:spPr>
        <p:txBody>
          <a:bodyPr rtlCol="0">
            <a:normAutofit fontScale="90000"/>
          </a:bodyPr>
          <a:lstStyle/>
          <a:p>
            <a:r>
              <a:rPr lang="da-DK" sz="5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2: Pokerplanlægning </a:t>
            </a:r>
            <a:br>
              <a:rPr lang="da-DK" sz="5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5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(10 minutter)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B0100BE-A32B-9277-E81E-688C6D4497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12</a:t>
            </a:fld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2EBC724B-0A62-F971-67FC-EC3EFED918BA}"/>
              </a:ext>
            </a:extLst>
          </p:cNvPr>
          <p:cNvSpPr txBox="1"/>
          <p:nvPr/>
        </p:nvSpPr>
        <p:spPr>
          <a:xfrm>
            <a:off x="5588520" y="1934754"/>
            <a:ext cx="60960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AutoNum type="arabicPeriod"/>
            </a:pPr>
            <a:r>
              <a:rPr lang="da-DK"/>
              <a:t>Identificere jeres </a:t>
            </a:r>
            <a:r>
              <a:rPr lang="da-DK" err="1"/>
              <a:t>PBI’er</a:t>
            </a:r>
            <a:r>
              <a:rPr lang="da-DK"/>
              <a:t> (Product </a:t>
            </a:r>
            <a:r>
              <a:rPr lang="da-DK" err="1"/>
              <a:t>backlog</a:t>
            </a:r>
            <a:r>
              <a:rPr lang="da-DK"/>
              <a:t> item) </a:t>
            </a:r>
          </a:p>
          <a:p>
            <a:pPr marL="342912" indent="-342912">
              <a:buAutoNum type="arabicPeriod"/>
            </a:pPr>
            <a:r>
              <a:rPr lang="da-DK"/>
              <a:t>Planlæg antal sprints samt varighed af sprint</a:t>
            </a:r>
          </a:p>
          <a:p>
            <a:pPr marL="342900" indent="-342900">
              <a:buAutoNum type="arabicPeriod"/>
            </a:pPr>
            <a:r>
              <a:rPr lang="da-DK"/>
              <a:t>Pokerplanlæg på jeres </a:t>
            </a:r>
            <a:r>
              <a:rPr lang="da-DK" err="1"/>
              <a:t>PBI’er</a:t>
            </a:r>
          </a:p>
        </p:txBody>
      </p:sp>
      <p:pic>
        <p:nvPicPr>
          <p:cNvPr id="6" name="Billede 5" descr="Et billede, der indeholder shoji&#10;&#10;Automatisk genereret beskrivelse">
            <a:extLst>
              <a:ext uri="{FF2B5EF4-FFF2-40B4-BE49-F238E27FC236}">
                <a16:creationId xmlns:a16="http://schemas.microsoft.com/office/drawing/2014/main" id="{BF17562F-AB14-EC89-9F87-853122C122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7"/>
          <a:stretch/>
        </p:blipFill>
        <p:spPr>
          <a:xfrm>
            <a:off x="1314451" y="3144861"/>
            <a:ext cx="8973595" cy="320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67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2956272"/>
            <a:ext cx="4179570" cy="535293"/>
          </a:xfrm>
        </p:spPr>
        <p:txBody>
          <a:bodyPr rtlCol="0"/>
          <a:lstStyle/>
          <a:p>
            <a:pPr rtl="0"/>
            <a:r>
              <a:rPr lang="da-DK"/>
              <a:t>Pause 10 minutter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2282-B74A-A34B-2000-1F519BF6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D102BAF-5503-FD89-3263-CF85A59D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14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3F6AC2CE-2470-3C55-C706-F445BC1564DD}"/>
              </a:ext>
            </a:extLst>
          </p:cNvPr>
          <p:cNvSpPr txBox="1"/>
          <p:nvPr/>
        </p:nvSpPr>
        <p:spPr>
          <a:xfrm>
            <a:off x="620345" y="1443841"/>
            <a:ext cx="6283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1: </a:t>
            </a:r>
            <a:r>
              <a:rPr lang="da-DK" sz="2400" b="1"/>
              <a:t>PERT estimater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2: Pokerplanlægning</a:t>
            </a:r>
            <a:endParaRPr lang="da-DK" sz="2400" b="1"/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3: </a:t>
            </a:r>
            <a:r>
              <a:rPr lang="da-DK" sz="2400" b="1"/>
              <a:t>Aktivitetsplan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4: </a:t>
            </a:r>
            <a:r>
              <a:rPr lang="da-DK" sz="2400" b="1"/>
              <a:t>Kvalitetssikring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Afrunding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797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A3438-EFD2-10F0-D416-0476101C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A89C1C-84BD-BC8D-D02D-8AA6B1D2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043" y="341888"/>
            <a:ext cx="8355914" cy="846301"/>
          </a:xfrm>
        </p:spPr>
        <p:txBody>
          <a:bodyPr rtlCol="0">
            <a:normAutofit fontScale="90000"/>
          </a:bodyPr>
          <a:lstStyle/>
          <a:p>
            <a:pPr rtl="0"/>
            <a:r>
              <a:rPr lang="da-DK" sz="4800" b="1" u="sng"/>
              <a:t>Iteration 3: aktivitetsplan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303E0F-C490-DCD2-0417-137B8522A6A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15</a:t>
            </a:fld>
            <a:endParaRPr lang="da-DK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AB4362C-BF0D-54D4-784B-33D29F9D3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72" y="1188189"/>
            <a:ext cx="10700656" cy="473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57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E3DFB7-B049-F444-AC0C-C9231358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9" name="Pladsholder til indhold 8">
            <a:extLst>
              <a:ext uri="{FF2B5EF4-FFF2-40B4-BE49-F238E27FC236}">
                <a16:creationId xmlns:a16="http://schemas.microsoft.com/office/drawing/2014/main" id="{D0754421-1404-1647-8B50-2B6160B8D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5737" y="1825625"/>
            <a:ext cx="9840525" cy="4351338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87F5E88-F30B-1940-AF52-B6A180045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78E28-3924-5D4F-9A93-06F2E98C663F}" type="slidenum">
              <a:rPr lang="da-DK" smtClean="0"/>
              <a:t>16</a:t>
            </a:fld>
            <a:endParaRPr lang="da-DK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DFAB4650-ED1D-B34B-B080-1B0700DD92B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7680"/>
            <a:ext cx="12191998" cy="6858001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721FAB9C-1C58-484D-BA1B-A00E148FDBC2}"/>
              </a:ext>
            </a:extLst>
          </p:cNvPr>
          <p:cNvSpPr/>
          <p:nvPr/>
        </p:nvSpPr>
        <p:spPr>
          <a:xfrm>
            <a:off x="-1" y="27680"/>
            <a:ext cx="12191999" cy="110578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a-DK"/>
              <a:t>Aktivitetsplan 101</a:t>
            </a:r>
          </a:p>
        </p:txBody>
      </p:sp>
      <p:pic>
        <p:nvPicPr>
          <p:cNvPr id="11" name="Billede 10">
            <a:extLst>
              <a:ext uri="{FF2B5EF4-FFF2-40B4-BE49-F238E27FC236}">
                <a16:creationId xmlns:a16="http://schemas.microsoft.com/office/drawing/2014/main" id="{E318DD25-DEB9-E145-8E50-30ACAD49A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7786"/>
            <a:ext cx="12192000" cy="53911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6C54DB8-86B5-B8A8-C82E-B0923F71C866}"/>
              </a:ext>
            </a:extLst>
          </p:cNvPr>
          <p:cNvSpPr/>
          <p:nvPr/>
        </p:nvSpPr>
        <p:spPr>
          <a:xfrm>
            <a:off x="933254" y="5948313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D52B87-43B0-9D68-C7FA-2FC6732F8CF3}"/>
              </a:ext>
            </a:extLst>
          </p:cNvPr>
          <p:cNvSpPr/>
          <p:nvPr/>
        </p:nvSpPr>
        <p:spPr>
          <a:xfrm>
            <a:off x="1754957" y="5987264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63CC7D-CDBD-0513-1B6B-D13711E1635E}"/>
              </a:ext>
            </a:extLst>
          </p:cNvPr>
          <p:cNvSpPr/>
          <p:nvPr/>
        </p:nvSpPr>
        <p:spPr>
          <a:xfrm>
            <a:off x="2535811" y="5935645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D6AB78-3739-647C-2F8F-CEE0F0985A39}"/>
              </a:ext>
            </a:extLst>
          </p:cNvPr>
          <p:cNvSpPr/>
          <p:nvPr/>
        </p:nvSpPr>
        <p:spPr>
          <a:xfrm>
            <a:off x="2535811" y="4967555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5F4AF0-DE7E-77E8-D7C0-2873B909206D}"/>
              </a:ext>
            </a:extLst>
          </p:cNvPr>
          <p:cNvSpPr/>
          <p:nvPr/>
        </p:nvSpPr>
        <p:spPr>
          <a:xfrm>
            <a:off x="2643486" y="4275396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1A3065-FE2C-4F55-68E4-F0AE0E4EE481}"/>
              </a:ext>
            </a:extLst>
          </p:cNvPr>
          <p:cNvSpPr/>
          <p:nvPr/>
        </p:nvSpPr>
        <p:spPr>
          <a:xfrm>
            <a:off x="5891487" y="4223777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CD3CEF-5102-6E11-5544-3EA3CFEE9B5F}"/>
              </a:ext>
            </a:extLst>
          </p:cNvPr>
          <p:cNvSpPr/>
          <p:nvPr/>
        </p:nvSpPr>
        <p:spPr>
          <a:xfrm>
            <a:off x="8879213" y="4258649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D34031-A45B-9892-BD20-0D4FE9F0439B}"/>
              </a:ext>
            </a:extLst>
          </p:cNvPr>
          <p:cNvSpPr/>
          <p:nvPr/>
        </p:nvSpPr>
        <p:spPr>
          <a:xfrm>
            <a:off x="8879213" y="3224981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4EB5D1-ED57-693E-FACB-AF4EFC874CFD}"/>
              </a:ext>
            </a:extLst>
          </p:cNvPr>
          <p:cNvSpPr/>
          <p:nvPr/>
        </p:nvSpPr>
        <p:spPr>
          <a:xfrm>
            <a:off x="7193669" y="3224980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EFB49E-F1C1-E806-36A6-DF9986B8B821}"/>
              </a:ext>
            </a:extLst>
          </p:cNvPr>
          <p:cNvSpPr/>
          <p:nvPr/>
        </p:nvSpPr>
        <p:spPr>
          <a:xfrm>
            <a:off x="8028539" y="4232568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2D5640-E832-2907-8C84-A287F3F8B1BA}"/>
              </a:ext>
            </a:extLst>
          </p:cNvPr>
          <p:cNvSpPr/>
          <p:nvPr/>
        </p:nvSpPr>
        <p:spPr>
          <a:xfrm>
            <a:off x="7207631" y="4232567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F64806-8522-0613-122E-385A8BA34D9F}"/>
              </a:ext>
            </a:extLst>
          </p:cNvPr>
          <p:cNvSpPr/>
          <p:nvPr/>
        </p:nvSpPr>
        <p:spPr>
          <a:xfrm>
            <a:off x="5001360" y="4216220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B74E5B-BFBD-6663-42F1-8C146097826F}"/>
              </a:ext>
            </a:extLst>
          </p:cNvPr>
          <p:cNvSpPr/>
          <p:nvPr/>
        </p:nvSpPr>
        <p:spPr>
          <a:xfrm>
            <a:off x="4133313" y="4245400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0E663F-B8B3-A970-6967-A0A2E5AA3E89}"/>
              </a:ext>
            </a:extLst>
          </p:cNvPr>
          <p:cNvSpPr/>
          <p:nvPr/>
        </p:nvSpPr>
        <p:spPr>
          <a:xfrm>
            <a:off x="4133312" y="3232310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A56A24-DF66-3669-C4D7-02CEC2A94D5A}"/>
              </a:ext>
            </a:extLst>
          </p:cNvPr>
          <p:cNvSpPr/>
          <p:nvPr/>
        </p:nvSpPr>
        <p:spPr>
          <a:xfrm>
            <a:off x="5842776" y="3207445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923931-7779-A333-7800-5D5F7E7748AA}"/>
              </a:ext>
            </a:extLst>
          </p:cNvPr>
          <p:cNvSpPr/>
          <p:nvPr/>
        </p:nvSpPr>
        <p:spPr>
          <a:xfrm>
            <a:off x="2628746" y="3175200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85F53D-144D-AC5D-1520-709CC95B0B53}"/>
              </a:ext>
            </a:extLst>
          </p:cNvPr>
          <p:cNvSpPr/>
          <p:nvPr/>
        </p:nvSpPr>
        <p:spPr>
          <a:xfrm>
            <a:off x="1764399" y="4245399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2B12-580A-767A-EA74-1EE57CD3C68E}"/>
              </a:ext>
            </a:extLst>
          </p:cNvPr>
          <p:cNvSpPr/>
          <p:nvPr/>
        </p:nvSpPr>
        <p:spPr>
          <a:xfrm>
            <a:off x="954454" y="4223777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5ED1C6-FFA4-0F84-772B-75C3F90B8237}"/>
              </a:ext>
            </a:extLst>
          </p:cNvPr>
          <p:cNvSpPr/>
          <p:nvPr/>
        </p:nvSpPr>
        <p:spPr>
          <a:xfrm>
            <a:off x="1003941" y="3207444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06EE93-863A-C12D-634B-B487E5BB65B2}"/>
              </a:ext>
            </a:extLst>
          </p:cNvPr>
          <p:cNvSpPr/>
          <p:nvPr/>
        </p:nvSpPr>
        <p:spPr>
          <a:xfrm>
            <a:off x="1770139" y="3207443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D65DBE-10DA-5C76-9D49-07335640F432}"/>
              </a:ext>
            </a:extLst>
          </p:cNvPr>
          <p:cNvSpPr/>
          <p:nvPr/>
        </p:nvSpPr>
        <p:spPr>
          <a:xfrm>
            <a:off x="936525" y="4958602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F26E45-23F3-BC62-3EC6-B0C74C144119}"/>
              </a:ext>
            </a:extLst>
          </p:cNvPr>
          <p:cNvSpPr/>
          <p:nvPr/>
        </p:nvSpPr>
        <p:spPr>
          <a:xfrm>
            <a:off x="1736168" y="4912312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E1C4BA-577A-E144-F0A3-F17E87DBDB85}"/>
              </a:ext>
            </a:extLst>
          </p:cNvPr>
          <p:cNvSpPr/>
          <p:nvPr/>
        </p:nvSpPr>
        <p:spPr>
          <a:xfrm>
            <a:off x="5019800" y="3207442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F7BBE7-5FBD-06A4-39C2-9D9EC57A8280}"/>
              </a:ext>
            </a:extLst>
          </p:cNvPr>
          <p:cNvSpPr/>
          <p:nvPr/>
        </p:nvSpPr>
        <p:spPr>
          <a:xfrm>
            <a:off x="8080157" y="3214212"/>
            <a:ext cx="669303" cy="408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33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5E197-F914-74B1-AE64-C09BC0426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E96ACF-EE25-3E52-2011-984E2967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217922"/>
            <a:ext cx="8421688" cy="1325563"/>
          </a:xfrm>
        </p:spPr>
        <p:txBody>
          <a:bodyPr/>
          <a:lstStyle/>
          <a:p>
            <a:r>
              <a:rPr lang="da-DK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Aktivitetsplan fra et andet projekt</a:t>
            </a:r>
            <a:br>
              <a:rPr lang="da-DK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a-DK" b="1" u="sng" dirty="0">
              <a:solidFill>
                <a:schemeClr val="tx1"/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9938B492-1A0B-C4F1-A6DD-ECF6C539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17</a:t>
            </a:fld>
            <a:endParaRPr lang="da-DK" noProof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765069EE-81F6-5AC1-25F7-A3609ACA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8" y="1265188"/>
            <a:ext cx="11805956" cy="437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23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49C2B8-A73B-783A-082B-81D95393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18</a:t>
            </a:fld>
            <a:endParaRPr lang="da-DK" noProof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9D3D82-E46E-A3F7-5C02-883D70693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9" y="2690788"/>
            <a:ext cx="11384118" cy="1842404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9D1747A0-8506-C4E4-1787-684BD3087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217922"/>
            <a:ext cx="8421688" cy="1325563"/>
          </a:xfrm>
        </p:spPr>
        <p:txBody>
          <a:bodyPr/>
          <a:lstStyle/>
          <a:p>
            <a:r>
              <a:rPr lang="da-DK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Aktivitetsplan fra et andet projekt</a:t>
            </a:r>
            <a:br>
              <a:rPr lang="da-DK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(Simpelt - til bilag)</a:t>
            </a:r>
            <a:endParaRPr lang="da-DK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84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ACD54-9361-A14F-B9CC-E7100080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EAD042-799C-FA3B-131F-80596FAE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42" y="341888"/>
            <a:ext cx="11050437" cy="846301"/>
          </a:xfrm>
        </p:spPr>
        <p:txBody>
          <a:bodyPr rtlCol="0">
            <a:normAutofit fontScale="90000"/>
          </a:bodyPr>
          <a:lstStyle/>
          <a:p>
            <a:r>
              <a:rPr lang="da-DK"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3: Aktivitetsplan</a:t>
            </a:r>
            <a:br>
              <a:rPr lang="da-DK"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a-DK" sz="4800" b="1" u="sng">
              <a:solidFill>
                <a:schemeClr val="tx1"/>
              </a:solidFill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B7B1B78-0701-C5A1-C8C0-8E7E7504AFD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19</a:t>
            </a:fld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232CCC05-49FE-0800-21BE-A2C25802A23C}"/>
              </a:ext>
            </a:extLst>
          </p:cNvPr>
          <p:cNvSpPr txBox="1"/>
          <p:nvPr/>
        </p:nvSpPr>
        <p:spPr>
          <a:xfrm>
            <a:off x="4724400" y="2197479"/>
            <a:ext cx="609600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da-DK" sz="180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Ud fra jeres PERT estimater, reevaluer jeres aktiviteter i en aktivitetsplan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da-DK" sz="1800">
                <a:solidFill>
                  <a:srgbClr val="342F2B"/>
                </a:solidFill>
                <a:latin typeface="Arial" pitchFamily="34" charset="0"/>
                <a:cs typeface="Arial" pitchFamily="34" charset="0"/>
              </a:rPr>
              <a:t>Husk at finde den kritiske vej i jeres aktivitetsplan</a:t>
            </a:r>
          </a:p>
          <a:p>
            <a:pPr marL="457200" indent="-457200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endParaRPr lang="da-DK">
              <a:solidFill>
                <a:srgbClr val="342F2B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da-DK" sz="1800"/>
              <a:t>(</a:t>
            </a:r>
            <a:r>
              <a:rPr lang="da-DK"/>
              <a:t>20</a:t>
            </a:r>
            <a:r>
              <a:rPr lang="da-DK" sz="1800"/>
              <a:t> minutter)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endParaRPr lang="da-DK" sz="1800">
              <a:solidFill>
                <a:srgbClr val="342F2B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838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96756-91AE-5695-F2CD-A31D2BAE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B602FE5-BD8F-3FB8-474B-08D53CC4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20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CF131D32-0FA0-562E-F331-F2C70AFAADF7}"/>
              </a:ext>
            </a:extLst>
          </p:cNvPr>
          <p:cNvSpPr txBox="1"/>
          <p:nvPr/>
        </p:nvSpPr>
        <p:spPr>
          <a:xfrm>
            <a:off x="620345" y="1443841"/>
            <a:ext cx="6283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1: </a:t>
            </a:r>
            <a:r>
              <a:rPr lang="da-DK" sz="2400" b="1"/>
              <a:t>PERT estimater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2: Pokerplanlægning</a:t>
            </a:r>
            <a:endParaRPr lang="da-DK" sz="2400" b="1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3: </a:t>
            </a:r>
            <a:r>
              <a:rPr lang="da-DK" sz="2400" b="1"/>
              <a:t>Aktivitetsplan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Iteration 4: </a:t>
            </a:r>
            <a:r>
              <a:rPr lang="da-DK" sz="2400" b="1"/>
              <a:t>Kvalitetssikring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Afrunding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7064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145E-EEF2-62EA-ADC5-4D7CE229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1411B-1CDE-A216-E4CE-9AB3FC05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57" y="0"/>
            <a:ext cx="9056885" cy="1325563"/>
          </a:xfrm>
        </p:spPr>
        <p:txBody>
          <a:bodyPr rtlCol="0"/>
          <a:lstStyle/>
          <a:p>
            <a:r>
              <a:rPr lang="da-DK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Kvalitetssikring &amp; Non-funktionelle krav</a:t>
            </a: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273859F-47AB-E86D-1135-CA9C3EB3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21</a:t>
            </a:fld>
            <a:endParaRPr lang="da-DK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A50D1E36-EE9F-8841-1663-5BEFDDDAFF53}"/>
              </a:ext>
            </a:extLst>
          </p:cNvPr>
          <p:cNvSpPr/>
          <p:nvPr/>
        </p:nvSpPr>
        <p:spPr>
          <a:xfrm>
            <a:off x="1845296" y="1700448"/>
            <a:ext cx="813690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ISO 9126-definition af SW-kvalitet 1991</a:t>
            </a:r>
          </a:p>
          <a:p>
            <a:endParaRPr lang="da-DK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r>
              <a:rPr lang="da-DK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6 major-</a:t>
            </a:r>
            <a:r>
              <a:rPr lang="da-DK" b="1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sw</a:t>
            </a:r>
            <a:r>
              <a:rPr lang="da-DK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-</a:t>
            </a:r>
            <a:r>
              <a:rPr lang="da-DK" b="1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quality</a:t>
            </a:r>
            <a:r>
              <a:rPr lang="da-DK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karakteristika:</a:t>
            </a:r>
          </a:p>
          <a:p>
            <a:endParaRPr lang="da-DK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• </a:t>
            </a:r>
            <a:r>
              <a:rPr lang="da-DK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Functionality</a:t>
            </a:r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   	(Funktionalitet til brugeren, inkl. Sikkerhed)</a:t>
            </a:r>
          </a:p>
          <a:p>
            <a:endParaRPr lang="da-DK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• </a:t>
            </a:r>
            <a:r>
              <a:rPr lang="da-DK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Reliability</a:t>
            </a:r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   	(Evne til aftalt performance </a:t>
            </a:r>
            <a:r>
              <a:rPr lang="da-DK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level</a:t>
            </a:r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)</a:t>
            </a:r>
          </a:p>
          <a:p>
            <a:endParaRPr lang="da-DK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• </a:t>
            </a:r>
            <a:r>
              <a:rPr lang="da-DK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Usability</a:t>
            </a:r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  	(Svært/nemt at bruge)</a:t>
            </a:r>
          </a:p>
          <a:p>
            <a:endParaRPr lang="da-DK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• </a:t>
            </a:r>
            <a:r>
              <a:rPr lang="da-DK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Efficiency</a:t>
            </a:r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  	(Fysiske ressourcer (fx cpu kraft))</a:t>
            </a:r>
          </a:p>
          <a:p>
            <a:endParaRPr lang="da-DK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• </a:t>
            </a:r>
            <a:r>
              <a:rPr lang="da-DK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Maintainability</a:t>
            </a:r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	(Nemt/svært at ændre i </a:t>
            </a:r>
            <a:r>
              <a:rPr lang="da-DK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sw</a:t>
            </a:r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)</a:t>
            </a:r>
          </a:p>
          <a:p>
            <a:endParaRPr lang="da-DK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• </a:t>
            </a:r>
            <a:r>
              <a:rPr lang="da-DK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Portability</a:t>
            </a:r>
            <a:r>
              <a:rPr lang="da-DK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	(Flytbarhed til anden platform)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7847B943-CAA1-C157-39AF-8413BFC92779}"/>
              </a:ext>
            </a:extLst>
          </p:cNvPr>
          <p:cNvSpPr txBox="1"/>
          <p:nvPr/>
        </p:nvSpPr>
        <p:spPr>
          <a:xfrm>
            <a:off x="8053310" y="3361736"/>
            <a:ext cx="23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Fejl tolerance; Recovery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A6E3468-01AD-3EF2-50C9-880679DD0360}"/>
              </a:ext>
            </a:extLst>
          </p:cNvPr>
          <p:cNvSpPr txBox="1"/>
          <p:nvPr/>
        </p:nvSpPr>
        <p:spPr>
          <a:xfrm>
            <a:off x="7011357" y="3894914"/>
            <a:ext cx="2950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Indlæringskurve; ”lækkerhed”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A2A2B725-E1EA-5A9D-A7C8-C150179292FC}"/>
              </a:ext>
            </a:extLst>
          </p:cNvPr>
          <p:cNvSpPr txBox="1"/>
          <p:nvPr/>
        </p:nvSpPr>
        <p:spPr>
          <a:xfrm>
            <a:off x="7441647" y="4990278"/>
            <a:ext cx="4510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i="1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Testbarhed</a:t>
            </a:r>
            <a:r>
              <a:rPr lang="da-DK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; unit test, kode standarder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5091B5B8-2C57-4247-82EE-D9E37586CE92}"/>
              </a:ext>
            </a:extLst>
          </p:cNvPr>
          <p:cNvSpPr txBox="1"/>
          <p:nvPr/>
        </p:nvSpPr>
        <p:spPr>
          <a:xfrm>
            <a:off x="7887414" y="5505989"/>
            <a:ext cx="23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Coexistens</a:t>
            </a:r>
            <a:r>
              <a:rPr lang="da-DK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; Installation</a:t>
            </a:r>
          </a:p>
        </p:txBody>
      </p:sp>
      <p:cxnSp>
        <p:nvCxnSpPr>
          <p:cNvPr id="9" name="Lige pilforbindelse 8">
            <a:extLst>
              <a:ext uri="{FF2B5EF4-FFF2-40B4-BE49-F238E27FC236}">
                <a16:creationId xmlns:a16="http://schemas.microsoft.com/office/drawing/2014/main" id="{29D895CA-7106-FD1F-3354-2B197FAF047A}"/>
              </a:ext>
            </a:extLst>
          </p:cNvPr>
          <p:cNvCxnSpPr/>
          <p:nvPr/>
        </p:nvCxnSpPr>
        <p:spPr>
          <a:xfrm>
            <a:off x="7364372" y="3546402"/>
            <a:ext cx="649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BC61E3A5-8CF5-9AAF-D308-03DBA432B29B}"/>
              </a:ext>
            </a:extLst>
          </p:cNvPr>
          <p:cNvCxnSpPr/>
          <p:nvPr/>
        </p:nvCxnSpPr>
        <p:spPr>
          <a:xfrm>
            <a:off x="6178091" y="4079580"/>
            <a:ext cx="649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DFAC2396-B0DC-56D1-F458-1393D6B0F266}"/>
              </a:ext>
            </a:extLst>
          </p:cNvPr>
          <p:cNvCxnSpPr/>
          <p:nvPr/>
        </p:nvCxnSpPr>
        <p:spPr>
          <a:xfrm>
            <a:off x="6715016" y="5179481"/>
            <a:ext cx="649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236CEA94-E227-B588-992C-BD87D9547B08}"/>
              </a:ext>
            </a:extLst>
          </p:cNvPr>
          <p:cNvCxnSpPr/>
          <p:nvPr/>
        </p:nvCxnSpPr>
        <p:spPr>
          <a:xfrm>
            <a:off x="7116969" y="5690655"/>
            <a:ext cx="6493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182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D68CB-18F0-29F8-3179-62E47C3EF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4A6030-7126-8094-1E80-52F20E04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67845"/>
            <a:ext cx="11229975" cy="846301"/>
          </a:xfrm>
        </p:spPr>
        <p:txBody>
          <a:bodyPr rtlCol="0">
            <a:noAutofit/>
          </a:bodyPr>
          <a:lstStyle/>
          <a:p>
            <a:pPr algn="ctr"/>
            <a:r>
              <a:rPr lang="da-DK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Ekstra iteration: Kvalitetssikring &amp; Non-funktionelle krav</a:t>
            </a:r>
            <a:br>
              <a:rPr lang="da-DK"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a-DK" sz="3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B0100BE-A32B-9277-E81E-688C6D4497D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22</a:t>
            </a:fld>
            <a:endParaRPr lang="da-DK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695BEE77-CD4E-6B53-A59D-EAC414360EE1}"/>
              </a:ext>
            </a:extLst>
          </p:cNvPr>
          <p:cNvSpPr txBox="1"/>
          <p:nvPr/>
        </p:nvSpPr>
        <p:spPr>
          <a:xfrm>
            <a:off x="1404682" y="2164851"/>
            <a:ext cx="9448840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a-DK" sz="2000"/>
              <a:t>På baggrund af de 6 kvalitetssikringsparametre, skal i kort beskrive systemet de non-funktionelle krav for systemet.</a:t>
            </a:r>
          </a:p>
          <a:p>
            <a:endParaRPr lang="da-DK" sz="2000"/>
          </a:p>
          <a:p>
            <a:r>
              <a:rPr lang="da-DK" sz="2000"/>
              <a:t>Prioriter dem – Hvilke punkter er vigtigt for jeres applikation?</a:t>
            </a:r>
          </a:p>
          <a:p>
            <a:r>
              <a:rPr lang="da-DK" sz="2000"/>
              <a:t>Eventuelt hent inspiration fra jeres målhieraki</a:t>
            </a:r>
          </a:p>
          <a:p>
            <a:endParaRPr lang="da-DK" sz="2000"/>
          </a:p>
          <a:p>
            <a:r>
              <a:rPr lang="da-DK" sz="2000"/>
              <a:t>(15 min - hold det kort og præcist)</a:t>
            </a:r>
          </a:p>
          <a:p>
            <a:endParaRPr lang="da-DK" sz="2000"/>
          </a:p>
          <a:p>
            <a:endParaRPr lang="da-DK" sz="2000"/>
          </a:p>
          <a:p>
            <a:endParaRPr lang="da-DK" sz="2000"/>
          </a:p>
          <a:p>
            <a:endParaRPr lang="da-DK" sz="2000"/>
          </a:p>
        </p:txBody>
      </p:sp>
    </p:spTree>
    <p:extLst>
      <p:ext uri="{BB962C8B-B14F-4D97-AF65-F5344CB8AC3E}">
        <p14:creationId xmlns:p14="http://schemas.microsoft.com/office/powerpoint/2010/main" val="3284692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6DDA-E525-CEAF-B5E1-D66B5B71F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86B46EA-6D1F-100B-BD0C-BF379097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da-DK" smtClean="0"/>
              <a:pPr rtl="0"/>
              <a:t>23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2A3360E4-E3C5-09D2-C1B0-F3614AF2127C}"/>
              </a:ext>
            </a:extLst>
          </p:cNvPr>
          <p:cNvSpPr txBox="1"/>
          <p:nvPr/>
        </p:nvSpPr>
        <p:spPr>
          <a:xfrm>
            <a:off x="620345" y="1443841"/>
            <a:ext cx="62832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Opsamling fra sidst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1: </a:t>
            </a:r>
            <a:r>
              <a:rPr lang="da-DK" sz="2400" b="1"/>
              <a:t>PERT estimater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2: Pokerplanlægning</a:t>
            </a:r>
            <a:endParaRPr lang="da-DK" sz="2400" b="1"/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3: </a:t>
            </a:r>
            <a:r>
              <a:rPr lang="da-DK" sz="2400" b="1"/>
              <a:t>Aktivitetsplan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da-DK" sz="2400" b="1">
                <a:solidFill>
                  <a:schemeClr val="tx1"/>
                </a:solidFill>
              </a:rPr>
              <a:t>Iteration 4: </a:t>
            </a:r>
            <a:r>
              <a:rPr lang="da-DK" sz="2400" b="1"/>
              <a:t>Kvalitetssikring</a:t>
            </a:r>
            <a:endParaRPr lang="da-DK" sz="2400" b="1">
              <a:solidFill>
                <a:schemeClr val="tx1"/>
              </a:solidFill>
            </a:endParaRP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da-DK" sz="2400" b="1">
                <a:solidFill>
                  <a:schemeClr val="tx1"/>
                </a:solidFill>
              </a:rPr>
              <a:t>Afrunding</a:t>
            </a:r>
          </a:p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9709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A8A456D-7F90-2314-D2D0-B10A4607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24</a:t>
            </a:fld>
            <a:endParaRPr lang="da-DK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82579DDE-B76C-CFD5-ACAD-9C0C0680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42" y="341888"/>
            <a:ext cx="11050437" cy="846301"/>
          </a:xfrm>
        </p:spPr>
        <p:txBody>
          <a:bodyPr rtlCol="0">
            <a:normAutofit/>
          </a:bodyPr>
          <a:lstStyle/>
          <a:p>
            <a:r>
              <a:rPr lang="da-DK"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Afrunding</a:t>
            </a:r>
            <a:endParaRPr lang="da-DK" sz="4800" b="1" u="sng">
              <a:solidFill>
                <a:schemeClr val="tx1"/>
              </a:solidFill>
            </a:endParaRP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CF902F60-E98A-4602-F067-E6AE9FFA7F2D}"/>
              </a:ext>
            </a:extLst>
          </p:cNvPr>
          <p:cNvSpPr txBox="1"/>
          <p:nvPr/>
        </p:nvSpPr>
        <p:spPr>
          <a:xfrm>
            <a:off x="1676400" y="2364254"/>
            <a:ext cx="6953250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da-DK" sz="2000" dirty="0"/>
              <a:t>Næste gang: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da-DK" sz="2000" dirty="0"/>
              <a:t>User </a:t>
            </a:r>
            <a:r>
              <a:rPr lang="da-DK" sz="2000" dirty="0" err="1"/>
              <a:t>stories</a:t>
            </a:r>
            <a:r>
              <a:rPr lang="da-DK" sz="2000" dirty="0"/>
              <a:t> / Use cases + UML 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da-DK" sz="2000" dirty="0" err="1">
                <a:ea typeface="+mn-lt"/>
                <a:cs typeface="+mn-lt"/>
              </a:rPr>
              <a:t>Burndown</a:t>
            </a:r>
            <a:r>
              <a:rPr lang="da-DK" sz="2000" dirty="0">
                <a:ea typeface="+mn-lt"/>
                <a:cs typeface="+mn-lt"/>
              </a:rPr>
              <a:t> </a:t>
            </a:r>
            <a:r>
              <a:rPr lang="da-DK" sz="2000" dirty="0" err="1">
                <a:ea typeface="+mn-lt"/>
                <a:cs typeface="+mn-lt"/>
              </a:rPr>
              <a:t>chart</a:t>
            </a:r>
            <a:r>
              <a:rPr lang="da-DK" sz="2000" dirty="0">
                <a:ea typeface="+mn-lt"/>
                <a:cs typeface="+mn-lt"/>
              </a:rPr>
              <a:t> og </a:t>
            </a:r>
            <a:r>
              <a:rPr lang="da-DK" sz="2000" dirty="0" err="1">
                <a:ea typeface="+mn-lt"/>
                <a:cs typeface="+mn-lt"/>
              </a:rPr>
              <a:t>Earned</a:t>
            </a:r>
            <a:r>
              <a:rPr lang="da-DK" sz="2000" dirty="0">
                <a:ea typeface="+mn-lt"/>
                <a:cs typeface="+mn-lt"/>
              </a:rPr>
              <a:t> </a:t>
            </a:r>
            <a:r>
              <a:rPr lang="da-DK" sz="2000" dirty="0" err="1">
                <a:ea typeface="+mn-lt"/>
                <a:cs typeface="+mn-lt"/>
              </a:rPr>
              <a:t>value</a:t>
            </a:r>
            <a:endParaRPr lang="da-DK" sz="2000" dirty="0">
              <a:ea typeface="+mn-lt"/>
              <a:cs typeface="+mn-lt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da-DK" sz="2000" dirty="0">
                <a:ea typeface="+mn-lt"/>
                <a:cs typeface="+mn-lt"/>
              </a:rPr>
              <a:t>Genbesøg af aktivitetsplan og pokerplanlægning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da-DK" sz="2000" dirty="0"/>
          </a:p>
        </p:txBody>
      </p:sp>
    </p:spTree>
    <p:extLst>
      <p:ext uri="{BB962C8B-B14F-4D97-AF65-F5344CB8AC3E}">
        <p14:creationId xmlns:p14="http://schemas.microsoft.com/office/powerpoint/2010/main" val="3867907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7F64478-0F02-1604-B5BA-77B1E6A3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t>25</a:t>
            </a:fld>
            <a:endParaRPr lang="da-DK" noProof="0"/>
          </a:p>
        </p:txBody>
      </p:sp>
      <p:pic>
        <p:nvPicPr>
          <p:cNvPr id="8" name="Grafik 7" descr="Hjælp med massiv udfyldning">
            <a:extLst>
              <a:ext uri="{FF2B5EF4-FFF2-40B4-BE49-F238E27FC236}">
                <a16:creationId xmlns:a16="http://schemas.microsoft.com/office/drawing/2014/main" id="{6CC47A3C-648A-46FD-C330-D95C0DDAA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34813" y="806570"/>
            <a:ext cx="4790536" cy="479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3078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j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2_TF56180624_Win32" id="{E6920D08-9A27-4EA1-9D34-C9D4B3F01C7F}" vid="{C4E33720-451F-408A-9C33-BB0CF3401C4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4CF2EF3-001F-4BE9-81B3-86ECBBF9425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Kortfattet let salgspræsentation</Template>
  <TotalTime>6</TotalTime>
  <Words>816</Words>
  <Application>Microsoft Macintosh PowerPoint</Application>
  <PresentationFormat>Widescreen</PresentationFormat>
  <Paragraphs>197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-webkit-standard</vt:lpstr>
      <vt:lpstr>Arial</vt:lpstr>
      <vt:lpstr>Arial,Sans-Serif</vt:lpstr>
      <vt:lpstr>Calibri</vt:lpstr>
      <vt:lpstr>Cambria Math</vt:lpstr>
      <vt:lpstr>Tenorite</vt:lpstr>
      <vt:lpstr>Wingdings</vt:lpstr>
      <vt:lpstr>Monolinje</vt:lpstr>
      <vt:lpstr>IT-projektledelse Exercise: 3</vt:lpstr>
      <vt:lpstr>PowerPoint Presentation</vt:lpstr>
      <vt:lpstr>Klynge vejledning – Key take aways</vt:lpstr>
      <vt:lpstr>PowerPoint Presentation</vt:lpstr>
      <vt:lpstr>End-result</vt:lpstr>
      <vt:lpstr>PERT Estimater</vt:lpstr>
      <vt:lpstr>Estimater fra et andet projekt – 1 </vt:lpstr>
      <vt:lpstr>Estimater fra et andet projekt – 2 </vt:lpstr>
      <vt:lpstr>Iteration 1: estimering (15 minutter)</vt:lpstr>
      <vt:lpstr>PowerPoint Presentation</vt:lpstr>
      <vt:lpstr>Pokerplanlægning</vt:lpstr>
      <vt:lpstr>Iteration 2: Pokerplanlægning  (10 minutter)</vt:lpstr>
      <vt:lpstr>Pause 10 minutter</vt:lpstr>
      <vt:lpstr>PowerPoint Presentation</vt:lpstr>
      <vt:lpstr>Iteration 3: aktivitetsplan</vt:lpstr>
      <vt:lpstr>PowerPoint Presentation</vt:lpstr>
      <vt:lpstr>Aktivitetsplan fra et andet projekt </vt:lpstr>
      <vt:lpstr>Aktivitetsplan fra et andet projekt (Simpelt - til bilag)</vt:lpstr>
      <vt:lpstr>Iteration 3: Aktivitetsplan </vt:lpstr>
      <vt:lpstr>PowerPoint Presentation</vt:lpstr>
      <vt:lpstr>Kvalitetssikring &amp; Non-funktionelle krav</vt:lpstr>
      <vt:lpstr>Ekstra iteration: Kvalitetssikring &amp; Non-funktionelle krav </vt:lpstr>
      <vt:lpstr>PowerPoint Presentation</vt:lpstr>
      <vt:lpstr>Afrunding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IT-projektledelse Exercise: 2</dc:title>
  <dc:creator>jacob ragn-hansen</dc:creator>
  <cp:lastModifiedBy>Kia Karina Christiansen Vas</cp:lastModifiedBy>
  <cp:revision>4</cp:revision>
  <dcterms:created xsi:type="dcterms:W3CDTF">2024-02-10T11:14:19Z</dcterms:created>
  <dcterms:modified xsi:type="dcterms:W3CDTF">2026-03-11T09:34:49Z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